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8288000" cy="10287000"/>
  <p:notesSz cx="6858000" cy="9144000"/>
  <p:embeddedFontLst>
    <p:embeddedFont>
      <p:font typeface="Poppins" panose="00000500000000000000" pitchFamily="2" charset="0"/>
      <p:regular r:id="rId18"/>
    </p:embeddedFont>
    <p:embeddedFont>
      <p:font typeface="Poppins Bold" panose="020B0604020202020204" charset="0"/>
      <p:regular r:id="rId19"/>
    </p:embeddedFont>
    <p:embeddedFont>
      <p:font typeface="Poppins Light" panose="00000400000000000000" pitchFamily="2" charset="0"/>
      <p:regular r:id="rId20"/>
    </p:embeddedFont>
    <p:embeddedFont>
      <p:font typeface="Poppins Semi-Bold" panose="020B0604020202020204" charset="0"/>
      <p:regular r:id="rId21"/>
    </p:embeddedFont>
    <p:embeddedFont>
      <p:font typeface="Poppins Ultra-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90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E7064-FF1F-C267-8719-3EB84A7F5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E6C43B-96EE-4662-C1F9-D6DAF636B5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5D95BB-B647-8DC7-88AE-645276C28B2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241394F-98A0-7B6D-3270-F84071CF50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56EC7DE-7BDB-7E40-6504-9C354C020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94212-7102-7436-02EB-C71AAE80B8B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77751-CFC6-BB25-20E6-FD25FC597D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07127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5D8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6722894" y="-170483"/>
            <a:ext cx="4333681" cy="4333681"/>
          </a:xfrm>
          <a:custGeom>
            <a:avLst/>
            <a:gdLst/>
            <a:ahLst/>
            <a:cxnLst/>
            <a:rect l="l" t="t" r="r" b="b"/>
            <a:pathLst>
              <a:path w="4333681" h="4333681">
                <a:moveTo>
                  <a:pt x="0" y="0"/>
                </a:moveTo>
                <a:lnTo>
                  <a:pt x="4333681" y="0"/>
                </a:lnTo>
                <a:lnTo>
                  <a:pt x="4333681" y="4333681"/>
                </a:lnTo>
                <a:lnTo>
                  <a:pt x="0" y="43336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353029" y="3839348"/>
            <a:ext cx="5581942" cy="1746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72"/>
              </a:lnSpc>
            </a:pPr>
            <a:r>
              <a:rPr lang="en-US" sz="10500" b="1">
                <a:solidFill>
                  <a:srgbClr val="7F503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AR</a:t>
            </a:r>
            <a:r>
              <a:rPr lang="en-US" sz="10500" b="1">
                <a:solidFill>
                  <a:srgbClr val="0000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tisan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79462" y="5566836"/>
            <a:ext cx="8729076" cy="1173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3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AI-powered 3D Product Generation &amp; WebAR Visualization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059739"/>
            <a:ext cx="8729076" cy="2246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9"/>
              </a:lnSpc>
            </a:pPr>
            <a:r>
              <a:rPr lang="en-US" sz="2999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Group Members:</a:t>
            </a:r>
          </a:p>
          <a:p>
            <a:pPr marL="647698" lvl="1" indent="-323849" algn="l">
              <a:lnSpc>
                <a:spcPts val="3776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Saim Jamil                             (SP23-BSE-145)</a:t>
            </a:r>
          </a:p>
          <a:p>
            <a:pPr marL="647698" lvl="1" indent="-323849" algn="l">
              <a:lnSpc>
                <a:spcPts val="3776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Syed Muaarij Nadeem        (SP23-BSE-152)</a:t>
            </a:r>
          </a:p>
          <a:p>
            <a:pPr marL="647698" lvl="1" indent="-323849" algn="l">
              <a:lnSpc>
                <a:spcPts val="3777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Warda Saeed                        (SP23-BSE-172)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56575" y="7059739"/>
            <a:ext cx="8729076" cy="1293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9"/>
              </a:lnSpc>
            </a:pPr>
            <a:r>
              <a:rPr lang="en-US" sz="2999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Supervised By:</a:t>
            </a:r>
          </a:p>
          <a:p>
            <a:pPr marL="647698" lvl="1" indent="-323849" algn="l">
              <a:lnSpc>
                <a:spcPts val="3777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Sir Amaid Zia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5D8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253964"/>
            <a:ext cx="9584883" cy="4655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7" lvl="1" indent="-345439" algn="l">
              <a:lnSpc>
                <a:spcPts val="4607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Users struggle to imagine products in real environments</a:t>
            </a:r>
          </a:p>
          <a:p>
            <a:pPr marL="690877" lvl="1" indent="-345439" algn="l">
              <a:lnSpc>
                <a:spcPts val="4607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Designers require expensive 3D modeling expertise</a:t>
            </a:r>
          </a:p>
          <a:p>
            <a:pPr marL="690877" lvl="1" indent="-345439" algn="l">
              <a:lnSpc>
                <a:spcPts val="4607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visualization is time-consuming</a:t>
            </a:r>
          </a:p>
          <a:p>
            <a:pPr marL="690877" lvl="1" indent="-345439" algn="l">
              <a:lnSpc>
                <a:spcPts val="4607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Lack of personalization reduces customer confidence</a:t>
            </a:r>
          </a:p>
          <a:p>
            <a:pPr marL="690877" lvl="1" indent="-345439" algn="l">
              <a:lnSpc>
                <a:spcPts val="4607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Higher return rates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33450"/>
            <a:ext cx="9398117" cy="1006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27"/>
              </a:lnSpc>
            </a:pPr>
            <a:r>
              <a:rPr lang="en-US" sz="6000" b="1">
                <a:solidFill>
                  <a:srgbClr val="7F5033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453703" y="0"/>
            <a:ext cx="7379465" cy="10287000"/>
            <a:chOff x="0" y="0"/>
            <a:chExt cx="9839287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839286" cy="13716000"/>
            </a:xfrm>
            <a:custGeom>
              <a:avLst/>
              <a:gdLst/>
              <a:ahLst/>
              <a:cxnLst/>
              <a:rect l="l" t="t" r="r" b="b"/>
              <a:pathLst>
                <a:path w="9839286" h="13716000">
                  <a:moveTo>
                    <a:pt x="849785" y="0"/>
                  </a:moveTo>
                  <a:lnTo>
                    <a:pt x="8989502" y="0"/>
                  </a:lnTo>
                  <a:cubicBezTo>
                    <a:pt x="9458825" y="0"/>
                    <a:pt x="9839286" y="380461"/>
                    <a:pt x="9839286" y="849785"/>
                  </a:cubicBezTo>
                  <a:lnTo>
                    <a:pt x="9839286" y="12866215"/>
                  </a:lnTo>
                  <a:cubicBezTo>
                    <a:pt x="9839286" y="13091593"/>
                    <a:pt x="9749755" y="13307738"/>
                    <a:pt x="9590390" y="13467104"/>
                  </a:cubicBezTo>
                  <a:cubicBezTo>
                    <a:pt x="9431024" y="13626469"/>
                    <a:pt x="9214879" y="13716000"/>
                    <a:pt x="8989502" y="13716000"/>
                  </a:cubicBezTo>
                  <a:lnTo>
                    <a:pt x="849785" y="13716000"/>
                  </a:lnTo>
                  <a:cubicBezTo>
                    <a:pt x="624408" y="13716000"/>
                    <a:pt x="408262" y="13626469"/>
                    <a:pt x="248896" y="13467104"/>
                  </a:cubicBezTo>
                  <a:cubicBezTo>
                    <a:pt x="89531" y="13307738"/>
                    <a:pt x="0" y="13091593"/>
                    <a:pt x="0" y="12866215"/>
                  </a:cubicBezTo>
                  <a:lnTo>
                    <a:pt x="0" y="849785"/>
                  </a:lnTo>
                  <a:cubicBezTo>
                    <a:pt x="0" y="624408"/>
                    <a:pt x="89531" y="408262"/>
                    <a:pt x="248896" y="248896"/>
                  </a:cubicBezTo>
                  <a:cubicBezTo>
                    <a:pt x="408262" y="89531"/>
                    <a:pt x="624408" y="0"/>
                    <a:pt x="849785" y="0"/>
                  </a:cubicBezTo>
                  <a:close/>
                </a:path>
              </a:pathLst>
            </a:custGeom>
            <a:blipFill>
              <a:blip r:embed="rId3"/>
              <a:stretch>
                <a:fillRect t="-3801" b="-38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5D8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314730"/>
            <a:ext cx="12363751" cy="5390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Web-based Generative AI + WebAR platform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Generate 3D models from text or image input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Real-time AR placement,</a:t>
            </a:r>
          </a:p>
          <a:p>
            <a:pPr algn="l">
              <a:lnSpc>
                <a:spcPts val="5343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scaling, and rotation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app download or high-end </a:t>
            </a:r>
          </a:p>
          <a:p>
            <a:pPr algn="l">
              <a:lnSpc>
                <a:spcPts val="5343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hardware required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AI-powered prompt enhancement</a:t>
            </a:r>
          </a:p>
          <a:p>
            <a:pPr algn="l">
              <a:lnSpc>
                <a:spcPts val="5343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and recommendations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44000" y="4049161"/>
            <a:ext cx="10058986" cy="6767651"/>
            <a:chOff x="0" y="0"/>
            <a:chExt cx="10524261" cy="7080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524261" cy="7080687"/>
            </a:xfrm>
            <a:custGeom>
              <a:avLst/>
              <a:gdLst/>
              <a:ahLst/>
              <a:cxnLst/>
              <a:rect l="l" t="t" r="r" b="b"/>
              <a:pathLst>
                <a:path w="10524261" h="7080687">
                  <a:moveTo>
                    <a:pt x="649394" y="0"/>
                  </a:moveTo>
                  <a:lnTo>
                    <a:pt x="9874867" y="0"/>
                  </a:lnTo>
                  <a:cubicBezTo>
                    <a:pt x="10233517" y="0"/>
                    <a:pt x="10524261" y="290744"/>
                    <a:pt x="10524261" y="649394"/>
                  </a:cubicBezTo>
                  <a:lnTo>
                    <a:pt x="10524261" y="6431293"/>
                  </a:lnTo>
                  <a:cubicBezTo>
                    <a:pt x="10524261" y="6789944"/>
                    <a:pt x="10233517" y="7080687"/>
                    <a:pt x="9874867" y="7080687"/>
                  </a:cubicBezTo>
                  <a:lnTo>
                    <a:pt x="649394" y="7080687"/>
                  </a:lnTo>
                  <a:cubicBezTo>
                    <a:pt x="290744" y="7080687"/>
                    <a:pt x="0" y="6789944"/>
                    <a:pt x="0" y="6431293"/>
                  </a:cubicBezTo>
                  <a:lnTo>
                    <a:pt x="0" y="649394"/>
                  </a:lnTo>
                  <a:cubicBezTo>
                    <a:pt x="0" y="290744"/>
                    <a:pt x="290744" y="0"/>
                    <a:pt x="649394" y="0"/>
                  </a:cubicBezTo>
                  <a:close/>
                </a:path>
              </a:pathLst>
            </a:custGeom>
            <a:blipFill>
              <a:blip r:embed="rId3"/>
              <a:stretch>
                <a:fillRect l="-11820" t="-17271" r="-979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92238" y="942975"/>
            <a:ext cx="11460274" cy="104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3"/>
              </a:lnSpc>
            </a:pPr>
            <a:r>
              <a:rPr lang="en-US" sz="6299" b="1">
                <a:solidFill>
                  <a:srgbClr val="7F5033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Solution - AR</a:t>
            </a:r>
            <a:r>
              <a:rPr lang="en-US" sz="6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tisan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5D8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2733427"/>
            <a:ext cx="2951929" cy="642163"/>
            <a:chOff x="0" y="0"/>
            <a:chExt cx="3935906" cy="856218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45420"/>
              <a:ext cx="765378" cy="765378"/>
              <a:chOff x="0" y="0"/>
              <a:chExt cx="765378" cy="76537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65429" cy="765429"/>
              </a:xfrm>
              <a:custGeom>
                <a:avLst/>
                <a:gdLst/>
                <a:ahLst/>
                <a:cxnLst/>
                <a:rect l="l" t="t" r="r" b="b"/>
                <a:pathLst>
                  <a:path w="765429" h="765429">
                    <a:moveTo>
                      <a:pt x="0" y="51054"/>
                    </a:moveTo>
                    <a:cubicBezTo>
                      <a:pt x="0" y="22860"/>
                      <a:pt x="22860" y="0"/>
                      <a:pt x="51054" y="0"/>
                    </a:cubicBezTo>
                    <a:lnTo>
                      <a:pt x="714375" y="0"/>
                    </a:lnTo>
                    <a:cubicBezTo>
                      <a:pt x="742569" y="0"/>
                      <a:pt x="765429" y="22860"/>
                      <a:pt x="765429" y="51054"/>
                    </a:cubicBezTo>
                    <a:lnTo>
                      <a:pt x="765429" y="714375"/>
                    </a:lnTo>
                    <a:cubicBezTo>
                      <a:pt x="765429" y="742569"/>
                      <a:pt x="742569" y="765429"/>
                      <a:pt x="714375" y="765429"/>
                    </a:cubicBezTo>
                    <a:lnTo>
                      <a:pt x="51054" y="765429"/>
                    </a:lnTo>
                    <a:cubicBezTo>
                      <a:pt x="22860" y="765429"/>
                      <a:pt x="0" y="742569"/>
                      <a:pt x="0" y="714375"/>
                    </a:cubicBezTo>
                    <a:close/>
                  </a:path>
                </a:pathLst>
              </a:custGeom>
              <a:solidFill>
                <a:srgbClr val="EEE8DD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27495" y="0"/>
              <a:ext cx="510184" cy="856218"/>
              <a:chOff x="0" y="0"/>
              <a:chExt cx="510184" cy="85621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10184" cy="856214"/>
              </a:xfrm>
              <a:custGeom>
                <a:avLst/>
                <a:gdLst/>
                <a:ahLst/>
                <a:cxnLst/>
                <a:rect l="l" t="t" r="r" b="b"/>
                <a:pathLst>
                  <a:path w="510184" h="856214">
                    <a:moveTo>
                      <a:pt x="0" y="0"/>
                    </a:moveTo>
                    <a:lnTo>
                      <a:pt x="510184" y="0"/>
                    </a:lnTo>
                    <a:lnTo>
                      <a:pt x="510184" y="856214"/>
                    </a:lnTo>
                    <a:lnTo>
                      <a:pt x="0" y="85621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10392" r="-110392" b="2551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19050"/>
                <a:ext cx="510184" cy="87526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1">
                    <a:solidFill>
                      <a:srgbClr val="7F5033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1</a:t>
                </a: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071563" y="51563"/>
              <a:ext cx="2864343" cy="7453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15"/>
                </a:lnSpc>
              </a:pPr>
              <a:r>
                <a:rPr lang="en-US" sz="3399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Text to 3D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5453875"/>
            <a:ext cx="18288000" cy="5261974"/>
            <a:chOff x="0" y="0"/>
            <a:chExt cx="24384000" cy="70159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7015966"/>
            </a:xfrm>
            <a:custGeom>
              <a:avLst/>
              <a:gdLst/>
              <a:ahLst/>
              <a:cxnLst/>
              <a:rect l="l" t="t" r="r" b="b"/>
              <a:pathLst>
                <a:path w="24384000" h="7015966">
                  <a:moveTo>
                    <a:pt x="285750" y="0"/>
                  </a:moveTo>
                  <a:lnTo>
                    <a:pt x="24098250" y="0"/>
                  </a:lnTo>
                  <a:cubicBezTo>
                    <a:pt x="24256065" y="0"/>
                    <a:pt x="24384000" y="127935"/>
                    <a:pt x="24384000" y="285750"/>
                  </a:cubicBezTo>
                  <a:lnTo>
                    <a:pt x="24384000" y="6730216"/>
                  </a:lnTo>
                  <a:cubicBezTo>
                    <a:pt x="24384000" y="6888031"/>
                    <a:pt x="24256065" y="7015966"/>
                    <a:pt x="24098250" y="7015966"/>
                  </a:cubicBezTo>
                  <a:lnTo>
                    <a:pt x="285750" y="7015966"/>
                  </a:lnTo>
                  <a:cubicBezTo>
                    <a:pt x="209964" y="7015966"/>
                    <a:pt x="137283" y="6985860"/>
                    <a:pt x="83694" y="6932271"/>
                  </a:cubicBezTo>
                  <a:cubicBezTo>
                    <a:pt x="30106" y="6878682"/>
                    <a:pt x="0" y="6806001"/>
                    <a:pt x="0" y="6730216"/>
                  </a:cubicBezTo>
                  <a:lnTo>
                    <a:pt x="0" y="285750"/>
                  </a:lnTo>
                  <a:cubicBezTo>
                    <a:pt x="0" y="127935"/>
                    <a:pt x="127935" y="0"/>
                    <a:pt x="285750" y="0"/>
                  </a:cubicBezTo>
                  <a:close/>
                </a:path>
              </a:pathLst>
            </a:custGeom>
            <a:blipFill>
              <a:blip r:embed="rId4"/>
              <a:stretch>
                <a:fillRect l="-3883" r="-3883" b="-156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92238" y="942975"/>
            <a:ext cx="11460274" cy="104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3"/>
              </a:lnSpc>
            </a:pPr>
            <a:r>
              <a:rPr lang="en-US" sz="6299" b="1">
                <a:solidFill>
                  <a:srgbClr val="7F5033"/>
                </a:solidFill>
                <a:latin typeface="Poppins Bold"/>
                <a:ea typeface="Poppins Bold"/>
                <a:cs typeface="Poppins Bold"/>
                <a:sym typeface="Poppins Bold"/>
              </a:rPr>
              <a:t>Major Functionalities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3390752" y="4059236"/>
            <a:ext cx="3501588" cy="642163"/>
            <a:chOff x="0" y="0"/>
            <a:chExt cx="4668784" cy="856218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45420"/>
              <a:ext cx="765378" cy="765378"/>
              <a:chOff x="0" y="0"/>
              <a:chExt cx="765378" cy="76537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765429" cy="765429"/>
              </a:xfrm>
              <a:custGeom>
                <a:avLst/>
                <a:gdLst/>
                <a:ahLst/>
                <a:cxnLst/>
                <a:rect l="l" t="t" r="r" b="b"/>
                <a:pathLst>
                  <a:path w="765429" h="765429">
                    <a:moveTo>
                      <a:pt x="0" y="51054"/>
                    </a:moveTo>
                    <a:cubicBezTo>
                      <a:pt x="0" y="22860"/>
                      <a:pt x="22860" y="0"/>
                      <a:pt x="51054" y="0"/>
                    </a:cubicBezTo>
                    <a:lnTo>
                      <a:pt x="714375" y="0"/>
                    </a:lnTo>
                    <a:cubicBezTo>
                      <a:pt x="742569" y="0"/>
                      <a:pt x="765429" y="22860"/>
                      <a:pt x="765429" y="51054"/>
                    </a:cubicBezTo>
                    <a:lnTo>
                      <a:pt x="765429" y="714375"/>
                    </a:lnTo>
                    <a:cubicBezTo>
                      <a:pt x="765429" y="742569"/>
                      <a:pt x="742569" y="765429"/>
                      <a:pt x="714375" y="765429"/>
                    </a:cubicBezTo>
                    <a:lnTo>
                      <a:pt x="51054" y="765429"/>
                    </a:lnTo>
                    <a:cubicBezTo>
                      <a:pt x="22860" y="765429"/>
                      <a:pt x="0" y="742569"/>
                      <a:pt x="0" y="714375"/>
                    </a:cubicBezTo>
                    <a:close/>
                  </a:path>
                </a:pathLst>
              </a:custGeom>
              <a:solidFill>
                <a:srgbClr val="EEE8DD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27495" y="0"/>
              <a:ext cx="510184" cy="856218"/>
              <a:chOff x="0" y="0"/>
              <a:chExt cx="510184" cy="85621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510184" cy="856214"/>
              </a:xfrm>
              <a:custGeom>
                <a:avLst/>
                <a:gdLst/>
                <a:ahLst/>
                <a:cxnLst/>
                <a:rect l="l" t="t" r="r" b="b"/>
                <a:pathLst>
                  <a:path w="510184" h="856214">
                    <a:moveTo>
                      <a:pt x="0" y="0"/>
                    </a:moveTo>
                    <a:lnTo>
                      <a:pt x="510184" y="0"/>
                    </a:lnTo>
                    <a:lnTo>
                      <a:pt x="510184" y="856214"/>
                    </a:lnTo>
                    <a:lnTo>
                      <a:pt x="0" y="85621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10392" r="-110392" b="2551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19050"/>
                <a:ext cx="510184" cy="87526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1">
                    <a:solidFill>
                      <a:srgbClr val="7F5033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2</a:t>
                </a: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071562" y="51563"/>
              <a:ext cx="3597221" cy="7453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15"/>
                </a:lnSpc>
              </a:pPr>
              <a:r>
                <a:rPr lang="en-US" sz="3399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Image to 3D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17665" y="2733427"/>
            <a:ext cx="4402300" cy="642163"/>
            <a:chOff x="0" y="0"/>
            <a:chExt cx="5869733" cy="856218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45420"/>
              <a:ext cx="765378" cy="765378"/>
              <a:chOff x="0" y="0"/>
              <a:chExt cx="765378" cy="76537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765429" cy="765429"/>
              </a:xfrm>
              <a:custGeom>
                <a:avLst/>
                <a:gdLst/>
                <a:ahLst/>
                <a:cxnLst/>
                <a:rect l="l" t="t" r="r" b="b"/>
                <a:pathLst>
                  <a:path w="765429" h="765429">
                    <a:moveTo>
                      <a:pt x="0" y="51054"/>
                    </a:moveTo>
                    <a:cubicBezTo>
                      <a:pt x="0" y="22860"/>
                      <a:pt x="22860" y="0"/>
                      <a:pt x="51054" y="0"/>
                    </a:cubicBezTo>
                    <a:lnTo>
                      <a:pt x="714375" y="0"/>
                    </a:lnTo>
                    <a:cubicBezTo>
                      <a:pt x="742569" y="0"/>
                      <a:pt x="765429" y="22860"/>
                      <a:pt x="765429" y="51054"/>
                    </a:cubicBezTo>
                    <a:lnTo>
                      <a:pt x="765429" y="714375"/>
                    </a:lnTo>
                    <a:cubicBezTo>
                      <a:pt x="765429" y="742569"/>
                      <a:pt x="742569" y="765429"/>
                      <a:pt x="714375" y="765429"/>
                    </a:cubicBezTo>
                    <a:lnTo>
                      <a:pt x="51054" y="765429"/>
                    </a:lnTo>
                    <a:cubicBezTo>
                      <a:pt x="22860" y="765429"/>
                      <a:pt x="0" y="742569"/>
                      <a:pt x="0" y="714375"/>
                    </a:cubicBezTo>
                    <a:close/>
                  </a:path>
                </a:pathLst>
              </a:custGeom>
              <a:solidFill>
                <a:srgbClr val="EEE8DD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27495" y="0"/>
              <a:ext cx="510184" cy="856218"/>
              <a:chOff x="0" y="0"/>
              <a:chExt cx="510184" cy="85621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510184" cy="856214"/>
              </a:xfrm>
              <a:custGeom>
                <a:avLst/>
                <a:gdLst/>
                <a:ahLst/>
                <a:cxnLst/>
                <a:rect l="l" t="t" r="r" b="b"/>
                <a:pathLst>
                  <a:path w="510184" h="856214">
                    <a:moveTo>
                      <a:pt x="0" y="0"/>
                    </a:moveTo>
                    <a:lnTo>
                      <a:pt x="510184" y="0"/>
                    </a:lnTo>
                    <a:lnTo>
                      <a:pt x="510184" y="856214"/>
                    </a:lnTo>
                    <a:lnTo>
                      <a:pt x="0" y="85621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10392" r="-110392" b="2551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19050"/>
                <a:ext cx="510184" cy="87526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1">
                    <a:solidFill>
                      <a:srgbClr val="7F5033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3</a:t>
                </a: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071562" y="51563"/>
              <a:ext cx="4798171" cy="7453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15"/>
                </a:lnSpc>
              </a:pPr>
              <a:r>
                <a:rPr lang="en-US" sz="3399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AR Visualization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675514" y="4059236"/>
            <a:ext cx="4402300" cy="642163"/>
            <a:chOff x="0" y="0"/>
            <a:chExt cx="5869733" cy="856218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45420"/>
              <a:ext cx="765378" cy="765378"/>
              <a:chOff x="0" y="0"/>
              <a:chExt cx="765378" cy="76537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765429" cy="765429"/>
              </a:xfrm>
              <a:custGeom>
                <a:avLst/>
                <a:gdLst/>
                <a:ahLst/>
                <a:cxnLst/>
                <a:rect l="l" t="t" r="r" b="b"/>
                <a:pathLst>
                  <a:path w="765429" h="765429">
                    <a:moveTo>
                      <a:pt x="0" y="51054"/>
                    </a:moveTo>
                    <a:cubicBezTo>
                      <a:pt x="0" y="22860"/>
                      <a:pt x="22860" y="0"/>
                      <a:pt x="51054" y="0"/>
                    </a:cubicBezTo>
                    <a:lnTo>
                      <a:pt x="714375" y="0"/>
                    </a:lnTo>
                    <a:cubicBezTo>
                      <a:pt x="742569" y="0"/>
                      <a:pt x="765429" y="22860"/>
                      <a:pt x="765429" y="51054"/>
                    </a:cubicBezTo>
                    <a:lnTo>
                      <a:pt x="765429" y="714375"/>
                    </a:lnTo>
                    <a:cubicBezTo>
                      <a:pt x="765429" y="742569"/>
                      <a:pt x="742569" y="765429"/>
                      <a:pt x="714375" y="765429"/>
                    </a:cubicBezTo>
                    <a:lnTo>
                      <a:pt x="51054" y="765429"/>
                    </a:lnTo>
                    <a:cubicBezTo>
                      <a:pt x="22860" y="765429"/>
                      <a:pt x="0" y="742569"/>
                      <a:pt x="0" y="714375"/>
                    </a:cubicBezTo>
                    <a:close/>
                  </a:path>
                </a:pathLst>
              </a:custGeom>
              <a:solidFill>
                <a:srgbClr val="EEE8DD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27495" y="0"/>
              <a:ext cx="510184" cy="856218"/>
              <a:chOff x="0" y="0"/>
              <a:chExt cx="510184" cy="856218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10184" cy="856214"/>
              </a:xfrm>
              <a:custGeom>
                <a:avLst/>
                <a:gdLst/>
                <a:ahLst/>
                <a:cxnLst/>
                <a:rect l="l" t="t" r="r" b="b"/>
                <a:pathLst>
                  <a:path w="510184" h="856214">
                    <a:moveTo>
                      <a:pt x="0" y="0"/>
                    </a:moveTo>
                    <a:lnTo>
                      <a:pt x="510184" y="0"/>
                    </a:lnTo>
                    <a:lnTo>
                      <a:pt x="510184" y="856214"/>
                    </a:lnTo>
                    <a:lnTo>
                      <a:pt x="0" y="85621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10392" r="-110392" b="2551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19050"/>
                <a:ext cx="510184" cy="87526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1">
                    <a:solidFill>
                      <a:srgbClr val="7F5033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4</a:t>
                </a:r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1071562" y="51563"/>
              <a:ext cx="4798171" cy="7453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15"/>
                </a:lnSpc>
              </a:pPr>
              <a:r>
                <a:rPr lang="en-US" sz="3399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AI Suggestions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276969" y="2733427"/>
            <a:ext cx="4402300" cy="642163"/>
            <a:chOff x="0" y="0"/>
            <a:chExt cx="5869733" cy="856218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45420"/>
              <a:ext cx="765378" cy="765378"/>
              <a:chOff x="0" y="0"/>
              <a:chExt cx="765378" cy="765378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765429" cy="765429"/>
              </a:xfrm>
              <a:custGeom>
                <a:avLst/>
                <a:gdLst/>
                <a:ahLst/>
                <a:cxnLst/>
                <a:rect l="l" t="t" r="r" b="b"/>
                <a:pathLst>
                  <a:path w="765429" h="765429">
                    <a:moveTo>
                      <a:pt x="0" y="51054"/>
                    </a:moveTo>
                    <a:cubicBezTo>
                      <a:pt x="0" y="22860"/>
                      <a:pt x="22860" y="0"/>
                      <a:pt x="51054" y="0"/>
                    </a:cubicBezTo>
                    <a:lnTo>
                      <a:pt x="714375" y="0"/>
                    </a:lnTo>
                    <a:cubicBezTo>
                      <a:pt x="742569" y="0"/>
                      <a:pt x="765429" y="22860"/>
                      <a:pt x="765429" y="51054"/>
                    </a:cubicBezTo>
                    <a:lnTo>
                      <a:pt x="765429" y="714375"/>
                    </a:lnTo>
                    <a:cubicBezTo>
                      <a:pt x="765429" y="742569"/>
                      <a:pt x="742569" y="765429"/>
                      <a:pt x="714375" y="765429"/>
                    </a:cubicBezTo>
                    <a:lnTo>
                      <a:pt x="51054" y="765429"/>
                    </a:lnTo>
                    <a:cubicBezTo>
                      <a:pt x="22860" y="765429"/>
                      <a:pt x="0" y="742569"/>
                      <a:pt x="0" y="714375"/>
                    </a:cubicBezTo>
                    <a:close/>
                  </a:path>
                </a:pathLst>
              </a:custGeom>
              <a:solidFill>
                <a:srgbClr val="EEE8DD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27495" y="0"/>
              <a:ext cx="510184" cy="856218"/>
              <a:chOff x="0" y="0"/>
              <a:chExt cx="510184" cy="85621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510184" cy="856214"/>
              </a:xfrm>
              <a:custGeom>
                <a:avLst/>
                <a:gdLst/>
                <a:ahLst/>
                <a:cxnLst/>
                <a:rect l="l" t="t" r="r" b="b"/>
                <a:pathLst>
                  <a:path w="510184" h="856214">
                    <a:moveTo>
                      <a:pt x="0" y="0"/>
                    </a:moveTo>
                    <a:lnTo>
                      <a:pt x="510184" y="0"/>
                    </a:lnTo>
                    <a:lnTo>
                      <a:pt x="510184" y="856214"/>
                    </a:lnTo>
                    <a:lnTo>
                      <a:pt x="0" y="85621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10392" r="-110392" b="2551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19050"/>
                <a:ext cx="510184" cy="87526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1">
                    <a:solidFill>
                      <a:srgbClr val="7F5033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4</a:t>
                </a:r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1071562" y="51563"/>
              <a:ext cx="4798171" cy="7453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15"/>
                </a:lnSpc>
              </a:pPr>
              <a:r>
                <a:rPr lang="en-US" sz="3399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Designer Mode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5D8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314730"/>
            <a:ext cx="9320365" cy="4038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Users enter concise natural-language descriptions. 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system then calls a generative model Hunuyan3d-2 from Hugging Face spaces.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Ai model then produces a detailed textured model based on the prompt.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942975"/>
            <a:ext cx="11460274" cy="104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3"/>
              </a:lnSpc>
            </a:pPr>
            <a:r>
              <a:rPr lang="en-US" sz="6299" b="1">
                <a:solidFill>
                  <a:srgbClr val="7F5033"/>
                </a:solidFill>
                <a:latin typeface="Poppins Bold"/>
                <a:ea typeface="Poppins Bold"/>
                <a:cs typeface="Poppins Bold"/>
                <a:sym typeface="Poppins Bold"/>
              </a:rPr>
              <a:t>Text-to-3D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705041" y="0"/>
            <a:ext cx="8287656" cy="10287000"/>
            <a:chOff x="0" y="0"/>
            <a:chExt cx="8468307" cy="105112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468345" cy="10511256"/>
            </a:xfrm>
            <a:custGeom>
              <a:avLst/>
              <a:gdLst/>
              <a:ahLst/>
              <a:cxnLst/>
              <a:rect l="l" t="t" r="r" b="b"/>
              <a:pathLst>
                <a:path w="8468345" h="10511256">
                  <a:moveTo>
                    <a:pt x="1065949" y="0"/>
                  </a:moveTo>
                  <a:lnTo>
                    <a:pt x="7402396" y="0"/>
                  </a:lnTo>
                  <a:cubicBezTo>
                    <a:pt x="7685103" y="0"/>
                    <a:pt x="7956231" y="112305"/>
                    <a:pt x="8156135" y="312209"/>
                  </a:cubicBezTo>
                  <a:cubicBezTo>
                    <a:pt x="8356040" y="512114"/>
                    <a:pt x="8468345" y="783242"/>
                    <a:pt x="8468345" y="1065949"/>
                  </a:cubicBezTo>
                  <a:lnTo>
                    <a:pt x="8468345" y="9445307"/>
                  </a:lnTo>
                  <a:cubicBezTo>
                    <a:pt x="8468345" y="9728014"/>
                    <a:pt x="8356040" y="9999142"/>
                    <a:pt x="8156135" y="10199046"/>
                  </a:cubicBezTo>
                  <a:cubicBezTo>
                    <a:pt x="7956231" y="10398951"/>
                    <a:pt x="7685103" y="10511256"/>
                    <a:pt x="7402396" y="10511256"/>
                  </a:cubicBezTo>
                  <a:lnTo>
                    <a:pt x="1065949" y="10511256"/>
                  </a:lnTo>
                  <a:cubicBezTo>
                    <a:pt x="783242" y="10511256"/>
                    <a:pt x="512114" y="10398951"/>
                    <a:pt x="312209" y="10199046"/>
                  </a:cubicBezTo>
                  <a:cubicBezTo>
                    <a:pt x="112305" y="9999142"/>
                    <a:pt x="0" y="9728014"/>
                    <a:pt x="0" y="9445307"/>
                  </a:cubicBezTo>
                  <a:lnTo>
                    <a:pt x="0" y="1065949"/>
                  </a:lnTo>
                  <a:cubicBezTo>
                    <a:pt x="0" y="783242"/>
                    <a:pt x="112305" y="512114"/>
                    <a:pt x="312209" y="312209"/>
                  </a:cubicBezTo>
                  <a:cubicBezTo>
                    <a:pt x="512114" y="112305"/>
                    <a:pt x="783242" y="0"/>
                    <a:pt x="1065949" y="0"/>
                  </a:cubicBezTo>
                  <a:close/>
                </a:path>
              </a:pathLst>
            </a:custGeom>
            <a:blipFill>
              <a:blip r:embed="rId3"/>
              <a:stretch>
                <a:fillRect l="-2092" r="-209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5D8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785810" y="-582619"/>
            <a:ext cx="8757040" cy="10869619"/>
            <a:chOff x="0" y="0"/>
            <a:chExt cx="8468307" cy="105112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68345" cy="10511256"/>
            </a:xfrm>
            <a:custGeom>
              <a:avLst/>
              <a:gdLst/>
              <a:ahLst/>
              <a:cxnLst/>
              <a:rect l="l" t="t" r="r" b="b"/>
              <a:pathLst>
                <a:path w="8468345" h="10511256">
                  <a:moveTo>
                    <a:pt x="1008814" y="0"/>
                  </a:moveTo>
                  <a:lnTo>
                    <a:pt x="7459532" y="0"/>
                  </a:lnTo>
                  <a:cubicBezTo>
                    <a:pt x="7727086" y="0"/>
                    <a:pt x="7983681" y="106285"/>
                    <a:pt x="8172870" y="295475"/>
                  </a:cubicBezTo>
                  <a:cubicBezTo>
                    <a:pt x="8362059" y="484664"/>
                    <a:pt x="8468345" y="741260"/>
                    <a:pt x="8468345" y="1008814"/>
                  </a:cubicBezTo>
                  <a:lnTo>
                    <a:pt x="8468345" y="9502442"/>
                  </a:lnTo>
                  <a:cubicBezTo>
                    <a:pt x="8468345" y="10059595"/>
                    <a:pt x="8016684" y="10511256"/>
                    <a:pt x="7459532" y="10511256"/>
                  </a:cubicBezTo>
                  <a:lnTo>
                    <a:pt x="1008814" y="10511256"/>
                  </a:lnTo>
                  <a:cubicBezTo>
                    <a:pt x="451661" y="10511256"/>
                    <a:pt x="0" y="10059595"/>
                    <a:pt x="0" y="9502442"/>
                  </a:cubicBezTo>
                  <a:lnTo>
                    <a:pt x="0" y="1008814"/>
                  </a:lnTo>
                  <a:cubicBezTo>
                    <a:pt x="0" y="451661"/>
                    <a:pt x="451661" y="0"/>
                    <a:pt x="1008814" y="0"/>
                  </a:cubicBezTo>
                  <a:close/>
                </a:path>
              </a:pathLst>
            </a:custGeom>
            <a:blipFill>
              <a:blip r:embed="rId3"/>
              <a:stretch>
                <a:fillRect t="-1104" r="-7783" b="-905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672520" y="2314730"/>
            <a:ext cx="8586780" cy="4714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7" lvl="1" indent="-345439" algn="just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Upload your reference image</a:t>
            </a:r>
          </a:p>
          <a:p>
            <a:pPr marL="690877" lvl="1" indent="-345439" algn="just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Adjust advanced setting as Background</a:t>
            </a:r>
          </a:p>
          <a:p>
            <a:pPr algn="just">
              <a:lnSpc>
                <a:spcPts val="5343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removal and Model Detailing.</a:t>
            </a:r>
          </a:p>
          <a:p>
            <a:pPr marL="690877" lvl="1" indent="-345439" algn="just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 then calls Hunyuan3D-2 API.</a:t>
            </a:r>
          </a:p>
          <a:p>
            <a:pPr marL="690877" lvl="1" indent="-345439" algn="just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generates detailed textured model same as in the image.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72520" y="942975"/>
            <a:ext cx="8115300" cy="104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03"/>
              </a:lnSpc>
            </a:pPr>
            <a:r>
              <a:rPr lang="en-US" sz="6299" b="1">
                <a:solidFill>
                  <a:srgbClr val="7F5033"/>
                </a:solidFill>
                <a:latin typeface="Poppins Bold"/>
                <a:ea typeface="Poppins Bold"/>
                <a:cs typeface="Poppins Bold"/>
                <a:sym typeface="Poppins Bold"/>
              </a:rPr>
              <a:t>Image-to-3D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5D8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761841" y="157553"/>
            <a:ext cx="6858000" cy="10287000"/>
            <a:chOff x="0" y="0"/>
            <a:chExt cx="914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914400" y="0"/>
                  </a:moveTo>
                  <a:lnTo>
                    <a:pt x="8229600" y="0"/>
                  </a:lnTo>
                  <a:cubicBezTo>
                    <a:pt x="8734609" y="0"/>
                    <a:pt x="9144000" y="409391"/>
                    <a:pt x="9144000" y="914400"/>
                  </a:cubicBezTo>
                  <a:lnTo>
                    <a:pt x="9144000" y="12801600"/>
                  </a:lnTo>
                  <a:cubicBezTo>
                    <a:pt x="9144000" y="13306609"/>
                    <a:pt x="8734609" y="13716000"/>
                    <a:pt x="8229600" y="13716000"/>
                  </a:cubicBezTo>
                  <a:lnTo>
                    <a:pt x="914400" y="13716000"/>
                  </a:lnTo>
                  <a:cubicBezTo>
                    <a:pt x="409391" y="13716000"/>
                    <a:pt x="0" y="13306609"/>
                    <a:pt x="0" y="12801600"/>
                  </a:cubicBezTo>
                  <a:lnTo>
                    <a:pt x="0" y="914400"/>
                  </a:lnTo>
                  <a:cubicBezTo>
                    <a:pt x="0" y="409391"/>
                    <a:pt x="409391" y="0"/>
                    <a:pt x="914400" y="0"/>
                  </a:cubicBezTo>
                  <a:close/>
                </a:path>
              </a:pathLst>
            </a:custGeom>
            <a:blipFill>
              <a:blip r:embed="rId5"/>
              <a:stretch>
                <a:fillRect l="-8769" r="-462" b="-746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 descr="preencoded.png"/>
          <p:cNvSpPr/>
          <p:nvPr/>
        </p:nvSpPr>
        <p:spPr>
          <a:xfrm>
            <a:off x="976760" y="6468221"/>
            <a:ext cx="1263835" cy="1263835"/>
          </a:xfrm>
          <a:custGeom>
            <a:avLst/>
            <a:gdLst/>
            <a:ahLst/>
            <a:cxnLst/>
            <a:rect l="l" t="t" r="r" b="b"/>
            <a:pathLst>
              <a:path w="1263835" h="1263835">
                <a:moveTo>
                  <a:pt x="0" y="0"/>
                </a:moveTo>
                <a:lnTo>
                  <a:pt x="1263835" y="0"/>
                </a:lnTo>
                <a:lnTo>
                  <a:pt x="1263835" y="1263835"/>
                </a:lnTo>
                <a:lnTo>
                  <a:pt x="0" y="12638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26984" b="-269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976760" y="7977827"/>
            <a:ext cx="3392979" cy="436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8"/>
              </a:lnSpc>
            </a:pPr>
            <a:r>
              <a:rPr lang="en-US" sz="263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Zero-install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6760" y="8500144"/>
            <a:ext cx="3392979" cy="778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9"/>
              </a:lnSpc>
            </a:pPr>
            <a:r>
              <a:rPr lang="en-US" sz="20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Openable link, instant camera anchoring.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4985488" y="6468221"/>
            <a:ext cx="1263835" cy="1263835"/>
          </a:xfrm>
          <a:custGeom>
            <a:avLst/>
            <a:gdLst/>
            <a:ahLst/>
            <a:cxnLst/>
            <a:rect l="l" t="t" r="r" b="b"/>
            <a:pathLst>
              <a:path w="1263835" h="1263835">
                <a:moveTo>
                  <a:pt x="0" y="0"/>
                </a:moveTo>
                <a:lnTo>
                  <a:pt x="1263835" y="0"/>
                </a:lnTo>
                <a:lnTo>
                  <a:pt x="1263835" y="1263835"/>
                </a:lnTo>
                <a:lnTo>
                  <a:pt x="0" y="12638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4369739" y="8009650"/>
            <a:ext cx="3392979" cy="436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8"/>
              </a:lnSpc>
            </a:pPr>
            <a:r>
              <a:rPr lang="en-US" sz="263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Accurate Scaling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69739" y="8531968"/>
            <a:ext cx="2957281" cy="1169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9"/>
              </a:lnSpc>
            </a:pPr>
            <a:r>
              <a:rPr lang="en-US" sz="20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Real-world measurement tools and unit presets.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096604"/>
            <a:ext cx="10205640" cy="4038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43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Instant AR preview via browser via,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QR code</a:t>
            </a:r>
          </a:p>
          <a:p>
            <a:pPr algn="just">
              <a:lnSpc>
                <a:spcPts val="5343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or 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Instant link</a:t>
            </a:r>
          </a:p>
          <a:p>
            <a:pPr algn="just">
              <a:lnSpc>
                <a:spcPts val="5343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Place the model on any surface and then</a:t>
            </a:r>
          </a:p>
          <a:p>
            <a:pPr algn="just">
              <a:lnSpc>
                <a:spcPts val="5343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adjust, scale, rotate.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6760" y="892405"/>
            <a:ext cx="10257580" cy="104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3"/>
              </a:lnSpc>
            </a:pPr>
            <a:r>
              <a:rPr lang="en-US" sz="6299" b="1">
                <a:solidFill>
                  <a:srgbClr val="7F5033"/>
                </a:solidFill>
                <a:latin typeface="Poppins Bold"/>
                <a:ea typeface="Poppins Bold"/>
                <a:cs typeface="Poppins Bold"/>
                <a:sym typeface="Poppins Bold"/>
              </a:rPr>
              <a:t>WebAR Visualization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5D8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650815" y="3348925"/>
            <a:ext cx="10921621" cy="6938075"/>
            <a:chOff x="0" y="0"/>
            <a:chExt cx="12192000" cy="77450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92051" cy="7745080"/>
            </a:xfrm>
            <a:custGeom>
              <a:avLst/>
              <a:gdLst/>
              <a:ahLst/>
              <a:cxnLst/>
              <a:rect l="l" t="t" r="r" b="b"/>
              <a:pathLst>
                <a:path w="12192051" h="7745080">
                  <a:moveTo>
                    <a:pt x="481077" y="0"/>
                  </a:moveTo>
                  <a:lnTo>
                    <a:pt x="11710974" y="0"/>
                  </a:lnTo>
                  <a:cubicBezTo>
                    <a:pt x="11976666" y="0"/>
                    <a:pt x="12192051" y="215386"/>
                    <a:pt x="12192051" y="481077"/>
                  </a:cubicBezTo>
                  <a:lnTo>
                    <a:pt x="12192051" y="7264002"/>
                  </a:lnTo>
                  <a:cubicBezTo>
                    <a:pt x="12192051" y="7529695"/>
                    <a:pt x="11976666" y="7745080"/>
                    <a:pt x="11710974" y="7745080"/>
                  </a:cubicBezTo>
                  <a:lnTo>
                    <a:pt x="481077" y="7745080"/>
                  </a:lnTo>
                  <a:cubicBezTo>
                    <a:pt x="215386" y="7745080"/>
                    <a:pt x="0" y="7529695"/>
                    <a:pt x="0" y="7264002"/>
                  </a:cubicBezTo>
                  <a:lnTo>
                    <a:pt x="0" y="481077"/>
                  </a:lnTo>
                  <a:cubicBezTo>
                    <a:pt x="0" y="215386"/>
                    <a:pt x="215386" y="0"/>
                    <a:pt x="481077" y="0"/>
                  </a:cubicBezTo>
                  <a:close/>
                </a:path>
              </a:pathLst>
            </a:custGeom>
            <a:blipFill>
              <a:blip r:embed="rId3"/>
              <a:stretch>
                <a:fillRect t="-1062" b="-10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325204"/>
            <a:ext cx="5982034" cy="3361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Prompt enhancement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suggestions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placement suggestions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Design Ideas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6760" y="892405"/>
            <a:ext cx="10257580" cy="104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3"/>
              </a:lnSpc>
            </a:pPr>
            <a:r>
              <a:rPr lang="en-US" sz="6299" b="1">
                <a:solidFill>
                  <a:srgbClr val="7F5033"/>
                </a:solidFill>
                <a:latin typeface="Poppins Bold"/>
                <a:ea typeface="Poppins Bold"/>
                <a:cs typeface="Poppins Bold"/>
                <a:sym typeface="Poppins Bold"/>
              </a:rPr>
              <a:t>Ai Suggestions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5D8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644316" y="3230396"/>
            <a:ext cx="11044370" cy="7056604"/>
            <a:chOff x="0" y="0"/>
            <a:chExt cx="10407853" cy="6649912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0407904" cy="6649898"/>
            </a:xfrm>
            <a:custGeom>
              <a:avLst/>
              <a:gdLst/>
              <a:ahLst/>
              <a:cxnLst/>
              <a:rect l="l" t="t" r="r" b="b"/>
              <a:pathLst>
                <a:path w="10407904" h="6649898">
                  <a:moveTo>
                    <a:pt x="556515" y="0"/>
                  </a:moveTo>
                  <a:lnTo>
                    <a:pt x="9851389" y="0"/>
                  </a:lnTo>
                  <a:cubicBezTo>
                    <a:pt x="10158744" y="0"/>
                    <a:pt x="10407904" y="249160"/>
                    <a:pt x="10407904" y="556515"/>
                  </a:cubicBezTo>
                  <a:lnTo>
                    <a:pt x="10407904" y="6093383"/>
                  </a:lnTo>
                  <a:cubicBezTo>
                    <a:pt x="10407904" y="6400738"/>
                    <a:pt x="10158744" y="6649898"/>
                    <a:pt x="9851389" y="6649898"/>
                  </a:cubicBezTo>
                  <a:lnTo>
                    <a:pt x="556515" y="6649898"/>
                  </a:lnTo>
                  <a:cubicBezTo>
                    <a:pt x="408918" y="6649898"/>
                    <a:pt x="267366" y="6591265"/>
                    <a:pt x="162999" y="6486899"/>
                  </a:cubicBezTo>
                  <a:cubicBezTo>
                    <a:pt x="58633" y="6382532"/>
                    <a:pt x="0" y="6240980"/>
                    <a:pt x="0" y="6093383"/>
                  </a:cubicBezTo>
                  <a:lnTo>
                    <a:pt x="0" y="556515"/>
                  </a:lnTo>
                  <a:cubicBezTo>
                    <a:pt x="0" y="249160"/>
                    <a:pt x="249160" y="0"/>
                    <a:pt x="556515" y="0"/>
                  </a:cubicBezTo>
                  <a:close/>
                </a:path>
              </a:pathLst>
            </a:custGeom>
            <a:blipFill>
              <a:blip r:embed="rId3"/>
              <a:stretch>
                <a:fillRect l="-6457" r="-645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457858"/>
            <a:ext cx="10205640" cy="2685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Scene Creation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Scene Management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Multiple model placement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Ready Made Templates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6760" y="892405"/>
            <a:ext cx="10257580" cy="104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3"/>
              </a:lnSpc>
            </a:pPr>
            <a:r>
              <a:rPr lang="en-US" sz="6299" b="1">
                <a:solidFill>
                  <a:srgbClr val="7F5033"/>
                </a:solidFill>
                <a:latin typeface="Poppins Bold"/>
                <a:ea typeface="Poppins Bold"/>
                <a:cs typeface="Poppins Bold"/>
                <a:sym typeface="Poppins Bold"/>
              </a:rPr>
              <a:t>Designer Mode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5D8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376799" y="5597941"/>
            <a:ext cx="10183618" cy="5205503"/>
            <a:chOff x="0" y="0"/>
            <a:chExt cx="2869227" cy="1466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9128" cy="1466596"/>
            </a:xfrm>
            <a:custGeom>
              <a:avLst/>
              <a:gdLst/>
              <a:ahLst/>
              <a:cxnLst/>
              <a:rect l="l" t="t" r="r" b="b"/>
              <a:pathLst>
                <a:path w="2869128" h="1466596">
                  <a:moveTo>
                    <a:pt x="90538" y="0"/>
                  </a:moveTo>
                  <a:lnTo>
                    <a:pt x="2778590" y="0"/>
                  </a:lnTo>
                  <a:cubicBezTo>
                    <a:pt x="2802602" y="0"/>
                    <a:pt x="2825631" y="9539"/>
                    <a:pt x="2842610" y="26518"/>
                  </a:cubicBezTo>
                  <a:cubicBezTo>
                    <a:pt x="2859589" y="43497"/>
                    <a:pt x="2869128" y="66526"/>
                    <a:pt x="2869128" y="90538"/>
                  </a:cubicBezTo>
                  <a:lnTo>
                    <a:pt x="2869128" y="1376058"/>
                  </a:lnTo>
                  <a:cubicBezTo>
                    <a:pt x="2869128" y="1400070"/>
                    <a:pt x="2859589" y="1423099"/>
                    <a:pt x="2842610" y="1440078"/>
                  </a:cubicBezTo>
                  <a:cubicBezTo>
                    <a:pt x="2825631" y="1457057"/>
                    <a:pt x="2802602" y="1466596"/>
                    <a:pt x="2778590" y="1466596"/>
                  </a:cubicBezTo>
                  <a:lnTo>
                    <a:pt x="90538" y="1466596"/>
                  </a:lnTo>
                  <a:cubicBezTo>
                    <a:pt x="40535" y="1466596"/>
                    <a:pt x="0" y="1426061"/>
                    <a:pt x="0" y="1376058"/>
                  </a:cubicBezTo>
                  <a:lnTo>
                    <a:pt x="0" y="90538"/>
                  </a:lnTo>
                  <a:cubicBezTo>
                    <a:pt x="0" y="66526"/>
                    <a:pt x="9539" y="43497"/>
                    <a:pt x="26518" y="26518"/>
                  </a:cubicBezTo>
                  <a:cubicBezTo>
                    <a:pt x="43497" y="9539"/>
                    <a:pt x="66526" y="0"/>
                    <a:pt x="90538" y="0"/>
                  </a:cubicBezTo>
                  <a:close/>
                </a:path>
              </a:pathLst>
            </a:custGeom>
            <a:blipFill>
              <a:blip r:embed="rId3"/>
              <a:stretch>
                <a:fillRect t="-5877" b="-587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457858"/>
            <a:ext cx="8115300" cy="2685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3"/>
              </a:lnSpc>
            </a:pPr>
            <a:r>
              <a:rPr lang="en-US" sz="3199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Frontend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React.js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Three.js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GSAP, Framer motion (Animations)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6760" y="892405"/>
            <a:ext cx="10257580" cy="104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3"/>
              </a:lnSpc>
            </a:pPr>
            <a:r>
              <a:rPr lang="en-US" sz="6299" b="1">
                <a:solidFill>
                  <a:srgbClr val="7F5033"/>
                </a:solidFill>
                <a:latin typeface="Poppins Bold"/>
                <a:ea typeface="Poppins Bold"/>
                <a:cs typeface="Poppins Bold"/>
                <a:sym typeface="Poppins Bold"/>
              </a:rPr>
              <a:t>Tools &amp; Technologies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2457858"/>
            <a:ext cx="8115300" cy="2685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3"/>
              </a:lnSpc>
            </a:pPr>
            <a:r>
              <a:rPr lang="en-US" sz="3199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Backend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Node.js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Firebase Authentication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Firebase Firestore(User model)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5896358"/>
            <a:ext cx="6479796" cy="3361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3"/>
              </a:lnSpc>
            </a:pPr>
            <a:r>
              <a:rPr lang="en-US" sz="3199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GenAi API used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Hunyuan3d-2 by tencent</a:t>
            </a:r>
          </a:p>
          <a:p>
            <a:pPr algn="l">
              <a:lnSpc>
                <a:spcPts val="5343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accessible via API on  </a:t>
            </a:r>
          </a:p>
          <a:p>
            <a:pPr algn="l">
              <a:lnSpc>
                <a:spcPts val="5343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huggingface spaces</a:t>
            </a:r>
          </a:p>
          <a:p>
            <a:pPr algn="l">
              <a:lnSpc>
                <a:spcPts val="5343"/>
              </a:lnSpc>
            </a:pPr>
            <a:endParaRPr lang="en-US" sz="31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5D8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318408" y="3247324"/>
            <a:ext cx="12444479" cy="7039676"/>
            <a:chOff x="0" y="0"/>
            <a:chExt cx="2592684" cy="1466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92594" cy="1466596"/>
            </a:xfrm>
            <a:custGeom>
              <a:avLst/>
              <a:gdLst/>
              <a:ahLst/>
              <a:cxnLst/>
              <a:rect l="l" t="t" r="r" b="b"/>
              <a:pathLst>
                <a:path w="2592594" h="1466596">
                  <a:moveTo>
                    <a:pt x="74090" y="0"/>
                  </a:moveTo>
                  <a:lnTo>
                    <a:pt x="2518505" y="0"/>
                  </a:lnTo>
                  <a:cubicBezTo>
                    <a:pt x="2559423" y="0"/>
                    <a:pt x="2592594" y="33171"/>
                    <a:pt x="2592594" y="74090"/>
                  </a:cubicBezTo>
                  <a:lnTo>
                    <a:pt x="2592594" y="1392506"/>
                  </a:lnTo>
                  <a:cubicBezTo>
                    <a:pt x="2592594" y="1433425"/>
                    <a:pt x="2559423" y="1466596"/>
                    <a:pt x="2518505" y="1466596"/>
                  </a:cubicBezTo>
                  <a:lnTo>
                    <a:pt x="74090" y="1466596"/>
                  </a:lnTo>
                  <a:cubicBezTo>
                    <a:pt x="33171" y="1466596"/>
                    <a:pt x="0" y="1433425"/>
                    <a:pt x="0" y="1392506"/>
                  </a:cubicBezTo>
                  <a:lnTo>
                    <a:pt x="0" y="74090"/>
                  </a:lnTo>
                  <a:cubicBezTo>
                    <a:pt x="0" y="33171"/>
                    <a:pt x="33171" y="0"/>
                    <a:pt x="74090" y="0"/>
                  </a:cubicBezTo>
                  <a:close/>
                </a:path>
              </a:pathLst>
            </a:custGeom>
            <a:blipFill>
              <a:blip r:embed="rId3"/>
              <a:stretch>
                <a:fillRect l="-1456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76760" y="892405"/>
            <a:ext cx="10257580" cy="104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3"/>
              </a:lnSpc>
            </a:pPr>
            <a:r>
              <a:rPr lang="en-US" sz="6299" b="1">
                <a:solidFill>
                  <a:srgbClr val="7F5033"/>
                </a:solidFill>
                <a:latin typeface="Poppins Bold"/>
                <a:ea typeface="Poppins Bold"/>
                <a:cs typeface="Poppins Bold"/>
                <a:sym typeface="Poppins Bold"/>
              </a:rPr>
              <a:t>SDLC-Agile Methodology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018631"/>
            <a:ext cx="15700245" cy="4038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3"/>
              </a:lnSpc>
            </a:pPr>
            <a:r>
              <a:rPr lang="en-US" sz="31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development of ARtisan follows an Agile-based methodology.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Enabling iterative progress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Continuous feedback &amp;</a:t>
            </a:r>
          </a:p>
          <a:p>
            <a:pPr marL="690877" lvl="1" indent="-345439" algn="l">
              <a:lnSpc>
                <a:spcPts val="5343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Incremental improvement</a:t>
            </a:r>
          </a:p>
          <a:p>
            <a:pPr algn="l">
              <a:lnSpc>
                <a:spcPts val="5343"/>
              </a:lnSpc>
            </a:pPr>
            <a:r>
              <a:rPr lang="en-US" sz="31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especially suitable for AI and</a:t>
            </a:r>
          </a:p>
          <a:p>
            <a:pPr algn="l">
              <a:lnSpc>
                <a:spcPts val="5343"/>
              </a:lnSpc>
            </a:pPr>
            <a:r>
              <a:rPr lang="en-US" sz="31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AR-driven systems.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heel spokes="1"/>
      </p:transition>
    </mc:Choice>
    <mc:Fallback>
      <p:transition spd="slow">
        <p:wheel spokes="1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5D8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76760" y="892405"/>
            <a:ext cx="10257580" cy="104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3"/>
              </a:lnSpc>
            </a:pPr>
            <a:r>
              <a:rPr lang="en-US" sz="6299" b="1">
                <a:solidFill>
                  <a:srgbClr val="7F5033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Architecture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588812" y="2465880"/>
            <a:ext cx="11110376" cy="1674876"/>
            <a:chOff x="0" y="0"/>
            <a:chExt cx="14813834" cy="2233168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4813834" cy="1969096"/>
              <a:chOff x="0" y="0"/>
              <a:chExt cx="2574475" cy="34220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574475" cy="342206"/>
              </a:xfrm>
              <a:custGeom>
                <a:avLst/>
                <a:gdLst/>
                <a:ahLst/>
                <a:cxnLst/>
                <a:rect l="l" t="t" r="r" b="b"/>
                <a:pathLst>
                  <a:path w="2574475" h="342206">
                    <a:moveTo>
                      <a:pt x="13610" y="0"/>
                    </a:moveTo>
                    <a:lnTo>
                      <a:pt x="2560865" y="0"/>
                    </a:lnTo>
                    <a:cubicBezTo>
                      <a:pt x="2568381" y="0"/>
                      <a:pt x="2574475" y="6093"/>
                      <a:pt x="2574475" y="13610"/>
                    </a:cubicBezTo>
                    <a:lnTo>
                      <a:pt x="2574475" y="328597"/>
                    </a:lnTo>
                    <a:cubicBezTo>
                      <a:pt x="2574475" y="336113"/>
                      <a:pt x="2568381" y="342206"/>
                      <a:pt x="2560865" y="342206"/>
                    </a:cubicBezTo>
                    <a:lnTo>
                      <a:pt x="13610" y="342206"/>
                    </a:lnTo>
                    <a:cubicBezTo>
                      <a:pt x="6093" y="342206"/>
                      <a:pt x="0" y="336113"/>
                      <a:pt x="0" y="328597"/>
                    </a:cubicBezTo>
                    <a:lnTo>
                      <a:pt x="0" y="13610"/>
                    </a:lnTo>
                    <a:cubicBezTo>
                      <a:pt x="0" y="6093"/>
                      <a:pt x="6093" y="0"/>
                      <a:pt x="13610" y="0"/>
                    </a:cubicBezTo>
                    <a:close/>
                  </a:path>
                </a:pathLst>
              </a:custGeom>
              <a:solidFill>
                <a:srgbClr val="CFBE9A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2574475" cy="3803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0" y="46609"/>
              <a:ext cx="14813834" cy="21865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36"/>
                </a:lnSpc>
              </a:pPr>
              <a:r>
                <a:rPr lang="en-US" sz="2400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Presentation Layer</a:t>
              </a:r>
            </a:p>
            <a:p>
              <a:pPr algn="ctr">
                <a:lnSpc>
                  <a:spcPts val="4536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React UI • Three.js Viewer • WebXR AR • Auth &amp; Profile UI</a:t>
              </a:r>
            </a:p>
            <a:p>
              <a:pPr algn="l">
                <a:lnSpc>
                  <a:spcPts val="4536"/>
                </a:lnSpc>
              </a:pPr>
              <a:endPara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588812" y="4140756"/>
            <a:ext cx="11110376" cy="1674876"/>
            <a:chOff x="0" y="0"/>
            <a:chExt cx="14813834" cy="2233168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4813834" cy="1969096"/>
              <a:chOff x="0" y="0"/>
              <a:chExt cx="2574475" cy="34220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574475" cy="342206"/>
              </a:xfrm>
              <a:custGeom>
                <a:avLst/>
                <a:gdLst/>
                <a:ahLst/>
                <a:cxnLst/>
                <a:rect l="l" t="t" r="r" b="b"/>
                <a:pathLst>
                  <a:path w="2574475" h="342206">
                    <a:moveTo>
                      <a:pt x="13610" y="0"/>
                    </a:moveTo>
                    <a:lnTo>
                      <a:pt x="2560865" y="0"/>
                    </a:lnTo>
                    <a:cubicBezTo>
                      <a:pt x="2568381" y="0"/>
                      <a:pt x="2574475" y="6093"/>
                      <a:pt x="2574475" y="13610"/>
                    </a:cubicBezTo>
                    <a:lnTo>
                      <a:pt x="2574475" y="328597"/>
                    </a:lnTo>
                    <a:cubicBezTo>
                      <a:pt x="2574475" y="336113"/>
                      <a:pt x="2568381" y="342206"/>
                      <a:pt x="2560865" y="342206"/>
                    </a:cubicBezTo>
                    <a:lnTo>
                      <a:pt x="13610" y="342206"/>
                    </a:lnTo>
                    <a:cubicBezTo>
                      <a:pt x="6093" y="342206"/>
                      <a:pt x="0" y="336113"/>
                      <a:pt x="0" y="328597"/>
                    </a:cubicBezTo>
                    <a:lnTo>
                      <a:pt x="0" y="13610"/>
                    </a:lnTo>
                    <a:cubicBezTo>
                      <a:pt x="0" y="6093"/>
                      <a:pt x="6093" y="0"/>
                      <a:pt x="13610" y="0"/>
                    </a:cubicBezTo>
                    <a:close/>
                  </a:path>
                </a:pathLst>
              </a:custGeom>
              <a:solidFill>
                <a:srgbClr val="CFBE9A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2574475" cy="3803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0" y="46609"/>
              <a:ext cx="14813834" cy="21865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36"/>
                </a:lnSpc>
              </a:pPr>
              <a:r>
                <a:rPr lang="en-US" sz="2400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Application Layer</a:t>
              </a:r>
            </a:p>
            <a:p>
              <a:pPr algn="ctr">
                <a:lnSpc>
                  <a:spcPts val="4536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Node.js API • JWT Auth • AR Controller • Scene Manager • AI Engine</a:t>
              </a:r>
            </a:p>
            <a:p>
              <a:pPr algn="l">
                <a:lnSpc>
                  <a:spcPts val="4536"/>
                </a:lnSpc>
              </a:pPr>
              <a:endPara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588812" y="5815632"/>
            <a:ext cx="11110376" cy="1674876"/>
            <a:chOff x="0" y="0"/>
            <a:chExt cx="14813834" cy="2233168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14813834" cy="1969096"/>
              <a:chOff x="0" y="0"/>
              <a:chExt cx="2574475" cy="34220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574475" cy="342206"/>
              </a:xfrm>
              <a:custGeom>
                <a:avLst/>
                <a:gdLst/>
                <a:ahLst/>
                <a:cxnLst/>
                <a:rect l="l" t="t" r="r" b="b"/>
                <a:pathLst>
                  <a:path w="2574475" h="342206">
                    <a:moveTo>
                      <a:pt x="13610" y="0"/>
                    </a:moveTo>
                    <a:lnTo>
                      <a:pt x="2560865" y="0"/>
                    </a:lnTo>
                    <a:cubicBezTo>
                      <a:pt x="2568381" y="0"/>
                      <a:pt x="2574475" y="6093"/>
                      <a:pt x="2574475" y="13610"/>
                    </a:cubicBezTo>
                    <a:lnTo>
                      <a:pt x="2574475" y="328597"/>
                    </a:lnTo>
                    <a:cubicBezTo>
                      <a:pt x="2574475" y="336113"/>
                      <a:pt x="2568381" y="342206"/>
                      <a:pt x="2560865" y="342206"/>
                    </a:cubicBezTo>
                    <a:lnTo>
                      <a:pt x="13610" y="342206"/>
                    </a:lnTo>
                    <a:cubicBezTo>
                      <a:pt x="6093" y="342206"/>
                      <a:pt x="0" y="336113"/>
                      <a:pt x="0" y="328597"/>
                    </a:cubicBezTo>
                    <a:lnTo>
                      <a:pt x="0" y="13610"/>
                    </a:lnTo>
                    <a:cubicBezTo>
                      <a:pt x="0" y="6093"/>
                      <a:pt x="6093" y="0"/>
                      <a:pt x="13610" y="0"/>
                    </a:cubicBezTo>
                    <a:close/>
                  </a:path>
                </a:pathLst>
              </a:custGeom>
              <a:solidFill>
                <a:srgbClr val="CFBE9A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2574475" cy="3803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0" y="46609"/>
              <a:ext cx="14813834" cy="21865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36"/>
                </a:lnSpc>
              </a:pPr>
              <a:r>
                <a:rPr lang="en-US" sz="2400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Services Layer</a:t>
              </a:r>
            </a:p>
            <a:p>
              <a:pPr algn="ctr">
                <a:lnSpc>
                  <a:spcPts val="4536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Text-to-3D • Image-to-3D • Prompt Engine • Storage</a:t>
              </a:r>
            </a:p>
            <a:p>
              <a:pPr algn="l">
                <a:lnSpc>
                  <a:spcPts val="4536"/>
                </a:lnSpc>
              </a:pPr>
              <a:endPara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588812" y="7583424"/>
            <a:ext cx="11110376" cy="1476822"/>
            <a:chOff x="0" y="0"/>
            <a:chExt cx="14813834" cy="1969096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4813834" cy="1969096"/>
              <a:chOff x="0" y="0"/>
              <a:chExt cx="2574475" cy="34220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574475" cy="342206"/>
              </a:xfrm>
              <a:custGeom>
                <a:avLst/>
                <a:gdLst/>
                <a:ahLst/>
                <a:cxnLst/>
                <a:rect l="l" t="t" r="r" b="b"/>
                <a:pathLst>
                  <a:path w="2574475" h="342206">
                    <a:moveTo>
                      <a:pt x="13610" y="0"/>
                    </a:moveTo>
                    <a:lnTo>
                      <a:pt x="2560865" y="0"/>
                    </a:lnTo>
                    <a:cubicBezTo>
                      <a:pt x="2568381" y="0"/>
                      <a:pt x="2574475" y="6093"/>
                      <a:pt x="2574475" y="13610"/>
                    </a:cubicBezTo>
                    <a:lnTo>
                      <a:pt x="2574475" y="328597"/>
                    </a:lnTo>
                    <a:cubicBezTo>
                      <a:pt x="2574475" y="336113"/>
                      <a:pt x="2568381" y="342206"/>
                      <a:pt x="2560865" y="342206"/>
                    </a:cubicBezTo>
                    <a:lnTo>
                      <a:pt x="13610" y="342206"/>
                    </a:lnTo>
                    <a:cubicBezTo>
                      <a:pt x="6093" y="342206"/>
                      <a:pt x="0" y="336113"/>
                      <a:pt x="0" y="328597"/>
                    </a:cubicBezTo>
                    <a:lnTo>
                      <a:pt x="0" y="13610"/>
                    </a:lnTo>
                    <a:cubicBezTo>
                      <a:pt x="0" y="6093"/>
                      <a:pt x="6093" y="0"/>
                      <a:pt x="13610" y="0"/>
                    </a:cubicBezTo>
                    <a:close/>
                  </a:path>
                </a:pathLst>
              </a:custGeom>
              <a:solidFill>
                <a:srgbClr val="CFBE9A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2574475" cy="3803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0" y="46609"/>
              <a:ext cx="14813834" cy="1461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36"/>
                </a:lnSpc>
              </a:pPr>
              <a:r>
                <a:rPr lang="en-US" sz="2400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Layer</a:t>
              </a:r>
            </a:p>
            <a:p>
              <a:pPr algn="ctr">
                <a:lnSpc>
                  <a:spcPts val="4536"/>
                </a:lnSpc>
              </a:pPr>
              <a:r>
                <a:rPr lang="en-US" sz="2400" dirty="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Firebase • Assets • User Data • Scene Configs</a:t>
              </a:r>
            </a:p>
          </p:txBody>
        </p:sp>
      </p:grpSp>
    </p:spTree>
  </p:cSld>
  <p:clrMapOvr>
    <a:masterClrMapping/>
  </p:clrMapOvr>
  <p:transition spd="slow">
    <p:comb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5D8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2238" y="942975"/>
            <a:ext cx="12408393" cy="104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3"/>
              </a:lnSpc>
            </a:pPr>
            <a:r>
              <a:rPr lang="en-US" sz="6299" b="1">
                <a:solidFill>
                  <a:srgbClr val="7F5033"/>
                </a:solidFill>
                <a:latin typeface="Poppins Bold"/>
                <a:ea typeface="Poppins Bold"/>
                <a:cs typeface="Poppins Bold"/>
                <a:sym typeface="Poppins Bold"/>
              </a:rPr>
              <a:t>Comparison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BA951A-0C0C-7369-716B-35C89DE972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0" t="24812" r="5828" b="9161"/>
          <a:stretch>
            <a:fillRect/>
          </a:stretch>
        </p:blipFill>
        <p:spPr>
          <a:xfrm>
            <a:off x="992237" y="2552700"/>
            <a:ext cx="16228963" cy="67913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5D8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6722894" y="2179590"/>
            <a:ext cx="4333681" cy="4333681"/>
          </a:xfrm>
          <a:custGeom>
            <a:avLst/>
            <a:gdLst/>
            <a:ahLst/>
            <a:cxnLst/>
            <a:rect l="l" t="t" r="r" b="b"/>
            <a:pathLst>
              <a:path w="4333681" h="4333681">
                <a:moveTo>
                  <a:pt x="0" y="0"/>
                </a:moveTo>
                <a:lnTo>
                  <a:pt x="4333681" y="0"/>
                </a:lnTo>
                <a:lnTo>
                  <a:pt x="4333681" y="4333681"/>
                </a:lnTo>
                <a:lnTo>
                  <a:pt x="0" y="43336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990109" y="6360871"/>
            <a:ext cx="8307782" cy="1746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72"/>
              </a:lnSpc>
            </a:pPr>
            <a:r>
              <a:rPr lang="en-US" sz="10500" b="1">
                <a:solidFill>
                  <a:srgbClr val="7F5033"/>
                </a:solidFill>
                <a:latin typeface="Poppins Bold"/>
                <a:ea typeface="Poppins Bold"/>
                <a:cs typeface="Poppins Bold"/>
                <a:sym typeface="Poppins Bold"/>
              </a:rPr>
              <a:t>Thank </a:t>
            </a:r>
            <a:r>
              <a:rPr lang="en-US" sz="105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You!</a:t>
            </a:r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0813E0-B4D1-6547-F34A-E6F75B451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8350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437</Words>
  <Application>Microsoft Office PowerPoint</Application>
  <PresentationFormat>Custom</PresentationFormat>
  <Paragraphs>141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Poppins Light</vt:lpstr>
      <vt:lpstr>Arial</vt:lpstr>
      <vt:lpstr>Poppins Bold</vt:lpstr>
      <vt:lpstr>Poppins Semi-Bold</vt:lpstr>
      <vt:lpstr>Poppins Ultra-Bold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ARtisan-AI-powered-3D-Product-Generation-and-WebAR-Visualization (1).pptx</dc:title>
  <cp:lastModifiedBy>M .King</cp:lastModifiedBy>
  <cp:revision>4</cp:revision>
  <dcterms:created xsi:type="dcterms:W3CDTF">2006-08-16T00:00:00Z</dcterms:created>
  <dcterms:modified xsi:type="dcterms:W3CDTF">2026-05-11T20:34:55Z</dcterms:modified>
  <dc:identifier>DAHJX9ZuX4o</dc:identifier>
</cp:coreProperties>
</file>